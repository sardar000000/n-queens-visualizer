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162136"/>
          </a:solidFill>
          <a:ln>
            <a:solidFill>
              <a:srgbClr val="1621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63093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30C6C7"/>
                </a:solidFill>
                <a:latin typeface="Aptos"/>
              </a:defRPr>
            </a:pPr>
            <a:r>
              <a:t>HACKATHON PROJECT  / 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6583680" cy="1234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4200" b="1">
                <a:solidFill>
                  <a:srgbClr val="F1F6FA"/>
                </a:solidFill>
                <a:latin typeface="Aptos Display"/>
              </a:defRPr>
            </a:pPr>
            <a:r>
              <a:t>QUEEN-</a:t>
            </a:r>
          </a:p>
          <a:p>
            <a:pPr algn="l">
              <a:spcAft>
                <a:spcPts val="500"/>
              </a:spcAft>
              <a:defRPr sz="4200" b="1">
                <a:solidFill>
                  <a:srgbClr val="F1F6FA"/>
                </a:solidFill>
                <a:latin typeface="Aptos Display"/>
              </a:defRPr>
            </a:pPr>
            <a: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16352"/>
            <a:ext cx="630936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30C6C7"/>
                </a:solidFill>
                <a:latin typeface="Aptos"/>
              </a:defRPr>
            </a:pPr>
            <a:r>
              <a:t>N-Queens Backtracking Visualizer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566160"/>
            <a:ext cx="621792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A1B3C2"/>
                </a:solidFill>
                <a:latin typeface="Aptos"/>
              </a:defRPr>
            </a:pPr>
            <a:r>
              <a:t>Make recursive search visible: watch safe placements, conflicts, and backtracking unfold on the 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800600"/>
            <a:ext cx="6217920" cy="713232"/>
          </a:xfrm>
          <a:prstGeom prst="roundRect">
            <a:avLst>
              <a:gd name="adj" fmla="val 8000"/>
            </a:avLst>
          </a:prstGeom>
          <a:solidFill>
            <a:srgbClr val="1D3045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58521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1F6FA"/>
                </a:solidFill>
                <a:latin typeface="Aptos"/>
              </a:defRPr>
            </a:pPr>
            <a:r>
              <a:t>PROBLEM DOMAIN   Constraint satisfaction  /  Search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806440"/>
            <a:ext cx="630936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1B3C2"/>
                </a:solidFill>
                <a:latin typeface="Aptos"/>
              </a:defRPr>
            </a:pPr>
            <a:r>
              <a:t>Team: [Student names + roll numbers]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A1B3C2"/>
                </a:solidFill>
                <a:latin typeface="Aptos"/>
              </a:defRPr>
            </a:pPr>
            <a:r>
              <a:t>[Department]  |  [College]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640080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30C6C7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234440"/>
            <a:ext cx="356616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1F6FA"/>
                </a:solidFill>
                <a:latin typeface="Aptos Display"/>
              </a:defRPr>
            </a:pPr>
            <a:r>
              <a:t>Solve the puzzle.</a:t>
            </a:r>
          </a:p>
          <a:p>
            <a:pPr algn="l">
              <a:spcAft>
                <a:spcPts val="500"/>
              </a:spcAft>
              <a:defRPr sz="2800" b="1">
                <a:solidFill>
                  <a:srgbClr val="F1F6FA"/>
                </a:solidFill>
                <a:latin typeface="Aptos Display"/>
              </a:defRPr>
            </a:pPr>
            <a:r>
              <a:t>See every decision.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743200"/>
            <a:ext cx="338328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A1B3C2"/>
                </a:solidFill>
                <a:latin typeface="Aptos"/>
              </a:defRPr>
            </a:pPr>
            <a:r>
              <a:t>A browser-based learning tool for the classic N-Queens problem.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16052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4407408"/>
            <a:ext cx="29718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1F6FA"/>
                </a:solidFill>
                <a:latin typeface="Aptos"/>
              </a:defRPr>
            </a:pPr>
            <a:r>
              <a:t>GUIDE  [Guide name]</a:t>
            </a:r>
          </a:p>
          <a:p>
            <a:pPr algn="l">
              <a:spcAft>
                <a:spcPts val="500"/>
              </a:spcAft>
              <a:defRPr sz="1200" b="1">
                <a:solidFill>
                  <a:srgbClr val="F1F6FA"/>
                </a:solidFill>
                <a:latin typeface="Aptos"/>
              </a:defRPr>
            </a:pPr>
            <a:r>
              <a:t>ACADEMIC YEAR  [Year]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989320"/>
            <a:ext cx="3566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0C6C7"/>
                </a:solidFill>
                <a:latin typeface="Aptos"/>
              </a:defRPr>
            </a:pPr>
            <a:r>
              <a:t>Python  ?  Streamlit  ?  Backtracking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772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0C6C7"/>
                </a:solidFill>
                <a:latin typeface="Aptos"/>
              </a:defRPr>
            </a:pPr>
            <a:r>
              <a:t>02  / 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1F6FA"/>
                </a:solidFill>
                <a:latin typeface="Aptos Display"/>
              </a:defRPr>
            </a:pPr>
            <a:r>
              <a:t>A correct answer hides the hard 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0" cy="16459"/>
          </a:xfrm>
          <a:prstGeom prst="rect">
            <a:avLst/>
          </a:prstGeom>
          <a:solidFill>
            <a:srgbClr val="1D3045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1B3C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120640" cy="14173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4008" cy="1417320"/>
          </a:xfrm>
          <a:prstGeom prst="roundRect">
            <a:avLst>
              <a:gd name="adj" fmla="val 8000"/>
            </a:avLst>
          </a:prstGeom>
          <a:solidFill>
            <a:srgbClr val="F05A52"/>
          </a:solidFill>
          <a:ln>
            <a:solidFill>
              <a:srgbClr val="F05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00784"/>
            <a:ext cx="4754879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REAL-WORLD LEARNING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84831"/>
            <a:ext cx="4754879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1B3C2"/>
                </a:solidFill>
                <a:latin typeface="Aptos"/>
              </a:defRPr>
            </a:pPr>
            <a:r>
              <a:t>Static outputs rarely reveal how recursion prunes choices or why a placement must be undone.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554480"/>
            <a:ext cx="5440680" cy="14173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89320" y="1554480"/>
            <a:ext cx="64008" cy="1417320"/>
          </a:xfrm>
          <a:prstGeom prst="roundRect">
            <a:avLst>
              <a:gd name="adj" fmla="val 8000"/>
            </a:avLst>
          </a:prstGeom>
          <a:solidFill>
            <a:srgbClr val="30C6C7"/>
          </a:solidFill>
          <a:ln>
            <a:solidFill>
              <a:srgbClr val="30C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700784"/>
            <a:ext cx="50749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084831"/>
            <a:ext cx="5074920" cy="7772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A1B3C2"/>
                </a:solidFill>
                <a:latin typeface="Aptos"/>
              </a:defRPr>
            </a:pPr>
            <a:r>
              <a:t>Students need to connect constraint checks, search depth, and backtracking to visible outcomes.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383280"/>
            <a:ext cx="45720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2C14E"/>
                </a:solidFill>
                <a:latin typeface="Aptos"/>
              </a:defRPr>
            </a:pPr>
            <a:r>
              <a:t>THE HARD PARTS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3383280" cy="16916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64008" cy="1691640"/>
          </a:xfrm>
          <a:prstGeom prst="roundRect">
            <a:avLst>
              <a:gd name="adj" fmla="val 8000"/>
            </a:avLst>
          </a:prstGeom>
          <a:solidFill>
            <a:srgbClr val="30C6C7"/>
          </a:solidFill>
          <a:ln>
            <a:solidFill>
              <a:srgbClr val="30C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94106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01  Search 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325112"/>
            <a:ext cx="30175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Many candidate boards; brute force grows rapidly.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794760"/>
            <a:ext cx="3383280" cy="16916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60520" y="3794760"/>
            <a:ext cx="64008" cy="1691640"/>
          </a:xfrm>
          <a:prstGeom prst="roundRect">
            <a:avLst>
              <a:gd name="adj" fmla="val 8000"/>
            </a:avLst>
          </a:prstGeom>
          <a:solidFill>
            <a:srgbClr val="F2C14E"/>
          </a:solidFill>
          <a:ln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394106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02  Constraints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4325112"/>
            <a:ext cx="30175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Rows, columns, and both diagonal directions must remain conflict-free.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379476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80960" y="3794760"/>
            <a:ext cx="64008" cy="1691640"/>
          </a:xfrm>
          <a:prstGeom prst="roundRect">
            <a:avLst>
              <a:gd name="adj" fmla="val 8000"/>
            </a:avLst>
          </a:prstGeom>
          <a:solidFill>
            <a:srgbClr val="F05A52"/>
          </a:solidFill>
          <a:ln>
            <a:solidFill>
              <a:srgbClr val="F05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82128" y="3941064"/>
            <a:ext cx="3246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03  Explainability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8" y="4325112"/>
            <a:ext cx="324612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A final arrangement alone cannot teach the sequence of decisions.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989320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Design goal: turn an abstract search tree into an inspectable sequence.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772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0C6C7"/>
                </a:solidFill>
                <a:latin typeface="Aptos"/>
              </a:defRPr>
            </a:pPr>
            <a:r>
              <a:t>03  /  OUR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1F6FA"/>
                </a:solidFill>
                <a:latin typeface="Aptos Display"/>
              </a:defRPr>
            </a:pPr>
            <a:r>
              <a:t>A solver that shows its reasoning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0" cy="16459"/>
          </a:xfrm>
          <a:prstGeom prst="rect">
            <a:avLst/>
          </a:prstGeom>
          <a:solidFill>
            <a:srgbClr val="1D3045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1B3C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64008" cy="3566160"/>
          </a:xfrm>
          <a:prstGeom prst="roundRect">
            <a:avLst>
              <a:gd name="adj" fmla="val 8000"/>
            </a:avLst>
          </a:prstGeom>
          <a:solidFill>
            <a:srgbClr val="30C6C7"/>
          </a:solidFill>
          <a:ln>
            <a:solidFill>
              <a:srgbClr val="30C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46504"/>
            <a:ext cx="3063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30552"/>
            <a:ext cx="3063240" cy="2926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A1B3C2"/>
                </a:solidFill>
                <a:latin typeface="Aptos"/>
              </a:defRPr>
            </a:pPr>
            <a:r>
              <a:t>Pair a row-wise backtracking solver with a replayable event trace.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A1B3C2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A1B3C2"/>
                </a:solidFill>
                <a:latin typeface="Aptos"/>
              </a:defRPr>
            </a:pPr>
            <a:r>
              <a:t>The output is not only a solution; it is the path through the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429000" cy="16459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600200"/>
            <a:ext cx="64008" cy="1645920"/>
          </a:xfrm>
          <a:prstGeom prst="roundRect">
            <a:avLst>
              <a:gd name="adj" fmla="val 8000"/>
            </a:avLst>
          </a:prstGeom>
          <a:solidFill>
            <a:srgbClr val="F05A52"/>
          </a:solidFill>
          <a:ln>
            <a:solidFill>
              <a:srgbClr val="F05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746504"/>
            <a:ext cx="3063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TRACE-FIRST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130552"/>
            <a:ext cx="306324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PLACE ? CONFLICT ? BACKTRACK ? 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520440"/>
            <a:ext cx="3429000" cy="164592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3520440"/>
            <a:ext cx="64008" cy="1645920"/>
          </a:xfrm>
          <a:prstGeom prst="roundRect">
            <a:avLst>
              <a:gd name="adj" fmla="val 8000"/>
            </a:avLst>
          </a:prstGeom>
          <a:solidFill>
            <a:srgbClr val="F2C14E"/>
          </a:solidFill>
          <a:ln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3666744"/>
            <a:ext cx="30632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MEASURABLE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4050791"/>
            <a:ext cx="306324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Solutions, nodes, conflicts, placements, depth, time, and trace size.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600200"/>
            <a:ext cx="31089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30C6C7"/>
                </a:solidFill>
                <a:latin typeface="Aptos"/>
              </a:defRPr>
            </a:pPr>
            <a:r>
              <a:t>WHAT USERS CAN 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011680"/>
            <a:ext cx="3429000" cy="31546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2267712"/>
            <a:ext cx="2944368" cy="2651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F1F6FA"/>
                </a:solidFill>
                <a:latin typeface="Aptos"/>
              </a:defRPr>
            </a:pPr>
            <a:r>
              <a:t>Choose N from 4 to 12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1F6FA"/>
                </a:solidFill>
                <a:latin typeface="Aptos"/>
              </a:defRPr>
            </a:pPr>
            <a:r>
              <a:t>Switch first/all solution mode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1F6FA"/>
                </a:solidFill>
                <a:latin typeface="Aptos"/>
              </a:defRPr>
            </a:pPr>
            <a:r>
              <a:t>Step through events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1F6FA"/>
                </a:solidFill>
                <a:latin typeface="Aptos"/>
              </a:defRPr>
            </a:pPr>
            <a:r>
              <a:t>Inspect alternative boards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1F6FA"/>
                </a:solidFill>
                <a:latin typeface="Aptos"/>
              </a:defRPr>
            </a:pPr>
            <a:r>
              <a:t>Export JSON and CSV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806440"/>
            <a:ext cx="105156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Difference: algorithm, visualization, and execution evidence are designed as one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772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0C6C7"/>
                </a:solidFill>
                <a:latin typeface="Aptos"/>
              </a:defRPr>
            </a:pPr>
            <a:r>
              <a:t>04  / 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1F6FA"/>
                </a:solidFill>
                <a:latin typeface="Aptos Display"/>
              </a:defRPr>
            </a:pPr>
            <a:r>
              <a:t>From board size to inspectable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0" cy="16459"/>
          </a:xfrm>
          <a:prstGeom prst="rect">
            <a:avLst/>
          </a:prstGeom>
          <a:solidFill>
            <a:srgbClr val="1D3045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1B3C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395728" cy="17830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64008" cy="1783080"/>
          </a:xfrm>
          <a:prstGeom prst="roundRect">
            <a:avLst>
              <a:gd name="adj" fmla="val 8000"/>
            </a:avLst>
          </a:prstGeom>
          <a:solidFill>
            <a:srgbClr val="30C6C7"/>
          </a:solidFill>
          <a:ln>
            <a:solidFill>
              <a:srgbClr val="30C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75104"/>
            <a:ext cx="202996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01 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59152"/>
            <a:ext cx="2029968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Board size N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Solve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95728"/>
            <a:ext cx="3474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30C6C7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1828800"/>
            <a:ext cx="2395728" cy="17830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11296" y="1828800"/>
            <a:ext cx="64008" cy="1783080"/>
          </a:xfrm>
          <a:prstGeom prst="roundRect">
            <a:avLst>
              <a:gd name="adj" fmla="val 8000"/>
            </a:avLst>
          </a:prstGeom>
          <a:solidFill>
            <a:srgbClr val="F2C14E"/>
          </a:solidFill>
          <a:ln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2463" y="1975104"/>
            <a:ext cx="202996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02 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3" y="2359152"/>
            <a:ext cx="2029968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Validate range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Initialize board + 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395728"/>
            <a:ext cx="3474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30C6C7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1828800"/>
            <a:ext cx="2395728" cy="17830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64224" y="1828800"/>
            <a:ext cx="64008" cy="1783080"/>
          </a:xfrm>
          <a:prstGeom prst="roundRect">
            <a:avLst>
              <a:gd name="adj" fmla="val 8000"/>
            </a:avLst>
          </a:prstGeom>
          <a:solidFill>
            <a:srgbClr val="F05A52"/>
          </a:solidFill>
          <a:ln>
            <a:solidFill>
              <a:srgbClr val="F05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975104"/>
            <a:ext cx="202996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03 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359152"/>
            <a:ext cx="2029968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Try safe columns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Recurse / backtrack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14816" y="2395728"/>
            <a:ext cx="347472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30C6C7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7152" y="1828800"/>
            <a:ext cx="2395728" cy="17830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217152" y="1828800"/>
            <a:ext cx="64008" cy="1783080"/>
          </a:xfrm>
          <a:prstGeom prst="roundRect">
            <a:avLst>
              <a:gd name="adj" fmla="val 8000"/>
            </a:avLst>
          </a:prstGeom>
          <a:solidFill>
            <a:srgbClr val="30C6C7"/>
          </a:solidFill>
          <a:ln>
            <a:solidFill>
              <a:srgbClr val="30C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975104"/>
            <a:ext cx="2029968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04 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359152"/>
            <a:ext cx="2029968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Solutions + trace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Metrics + downloads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160520"/>
            <a:ext cx="41148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F2C14E"/>
                </a:solidFill>
                <a:latin typeface="Aptos"/>
              </a:defRPr>
            </a:pPr>
            <a:r>
              <a:t>USER JOURNEY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590288"/>
            <a:ext cx="1042416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F1F6FA"/>
                </a:solidFill>
                <a:latin typeface="Aptos"/>
              </a:defRPr>
            </a:pPr>
            <a:r>
              <a:t>Open app  ?  choose N=8 and All solutions  ?  Generate / Solve  ?  step through the trace  ?  inspect solutions and metrics  ?  download JSON / 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989320"/>
            <a:ext cx="1069848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1B3C2"/>
                </a:solidFill>
                <a:latin typeface="Aptos"/>
              </a:defRPr>
            </a:pPr>
            <a:r>
              <a:t>Trace events are capped independently from the solver so large runs can still return complete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772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0C6C7"/>
                </a:solidFill>
                <a:latin typeface="Aptos"/>
              </a:defRPr>
            </a:pPr>
            <a:r>
              <a:t>05  /  TECHNOLOGY &amp;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1F6FA"/>
                </a:solidFill>
                <a:latin typeface="Aptos Display"/>
              </a:defRPr>
            </a:pPr>
            <a:r>
              <a:t>Simple state, explicit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0" cy="16459"/>
          </a:xfrm>
          <a:prstGeom prst="rect">
            <a:avLst/>
          </a:prstGeom>
          <a:solidFill>
            <a:srgbClr val="1D3045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1B3C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3657600" cy="1353312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64008" cy="1353312"/>
          </a:xfrm>
          <a:prstGeom prst="roundRect">
            <a:avLst>
              <a:gd name="adj" fmla="val 8000"/>
            </a:avLst>
          </a:prstGeom>
          <a:solidFill>
            <a:srgbClr val="30C6C7"/>
          </a:solidFill>
          <a:ln>
            <a:solidFill>
              <a:srgbClr val="30C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19072"/>
            <a:ext cx="32918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03120"/>
            <a:ext cx="329184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Python  ?  Streamlit  ?  custom 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27248"/>
            <a:ext cx="3657600" cy="1353312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127248"/>
            <a:ext cx="64008" cy="1353312"/>
          </a:xfrm>
          <a:prstGeom prst="roundRect">
            <a:avLst>
              <a:gd name="adj" fmla="val 8000"/>
            </a:avLst>
          </a:prstGeom>
          <a:solidFill>
            <a:srgbClr val="F2C14E"/>
          </a:solidFill>
          <a:ln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273552"/>
            <a:ext cx="32918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DATA /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657600"/>
            <a:ext cx="329184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pandas  ?  NumPy  ?  JSON  ? 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81728"/>
            <a:ext cx="3657600" cy="109728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681728"/>
            <a:ext cx="64008" cy="1097280"/>
          </a:xfrm>
          <a:prstGeom prst="roundRect">
            <a:avLst>
              <a:gd name="adj" fmla="val 8000"/>
            </a:avLst>
          </a:prstGeom>
          <a:solidFill>
            <a:srgbClr val="F05A52"/>
          </a:solidFill>
          <a:ln>
            <a:solidFill>
              <a:srgbClr val="F05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828032"/>
            <a:ext cx="329184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5212080"/>
            <a:ext cx="329184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A1B3C2"/>
                </a:solidFill>
                <a:latin typeface="Aptos"/>
              </a:defRPr>
            </a:pPr>
            <a:r>
              <a:t>In-memory session; no database or external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627632"/>
            <a:ext cx="34747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30C6C7"/>
                </a:solidFill>
                <a:latin typeface="Aptos"/>
              </a:defRPr>
            </a:pPr>
            <a:r>
              <a:t>SAFETY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075688"/>
            <a:ext cx="3794760" cy="196596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2" y="2359152"/>
            <a:ext cx="3337560" cy="1371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1F6FA"/>
                </a:solidFill>
                <a:latin typeface="Consolas"/>
              </a:defRPr>
            </a:pPr>
            <a:r>
              <a:t>Column:  c</a:t>
            </a:r>
          </a:p>
          <a:p>
            <a:pPr algn="l">
              <a:spcAft>
                <a:spcPts val="500"/>
              </a:spcAft>
              <a:defRPr sz="1800" b="1">
                <a:solidFill>
                  <a:srgbClr val="F1F6FA"/>
                </a:solidFill>
                <a:latin typeface="Consolas"/>
              </a:defRPr>
            </a:pPr>
            <a:r>
              <a:t>Diagonal:  r - c</a:t>
            </a:r>
          </a:p>
          <a:p>
            <a:pPr algn="l">
              <a:spcAft>
                <a:spcPts val="500"/>
              </a:spcAft>
              <a:defRPr sz="1800" b="1">
                <a:solidFill>
                  <a:srgbClr val="F1F6FA"/>
                </a:solidFill>
                <a:latin typeface="Consolas"/>
              </a:defRPr>
            </a:pPr>
            <a:r>
              <a:t>Diagonal:  r +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343400"/>
            <a:ext cx="365760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A1B3C2"/>
                </a:solidFill>
                <a:latin typeface="Aptos"/>
              </a:defRPr>
            </a:pPr>
            <a:r>
              <a:t>Sets make each candidate check average O(1).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173736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32520" y="1737360"/>
            <a:ext cx="64008" cy="1691640"/>
          </a:xfrm>
          <a:prstGeom prst="roundRect">
            <a:avLst>
              <a:gd name="adj" fmla="val 8000"/>
            </a:avLst>
          </a:prstGeom>
          <a:solidFill>
            <a:srgbClr val="F05A52"/>
          </a:solidFill>
          <a:ln>
            <a:solidFill>
              <a:srgbClr val="F05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33688" y="1883664"/>
            <a:ext cx="22402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33688" y="2267712"/>
            <a:ext cx="224028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O(N!)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commonly stated worst-case bound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32520" y="3749039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32520" y="3749039"/>
            <a:ext cx="64008" cy="1691640"/>
          </a:xfrm>
          <a:prstGeom prst="roundRect">
            <a:avLst>
              <a:gd name="adj" fmla="val 8000"/>
            </a:avLst>
          </a:prstGeom>
          <a:solidFill>
            <a:srgbClr val="30C6C7"/>
          </a:solidFill>
          <a:ln>
            <a:solidFill>
              <a:srgbClr val="30C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33688" y="3895344"/>
            <a:ext cx="22402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3688" y="4279392"/>
            <a:ext cx="224028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A1B3C2"/>
                </a:solidFill>
                <a:latin typeface="Aptos"/>
              </a:defRPr>
            </a:pPr>
            <a:r>
              <a:t>O(N)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A1B3C2"/>
                </a:solidFill>
                <a:latin typeface="Aptos"/>
              </a:defRPr>
            </a:pPr>
            <a:r>
              <a:t>recursion / board state; excludes 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5715000"/>
            <a:ext cx="676656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2C14E"/>
                </a:solidFill>
                <a:latin typeface="Aptos"/>
              </a:defRPr>
            </a:pPr>
            <a:r>
              <a:t>Row-by-row backtracking  /  place ? recurse ? undo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879592"/>
            <a:ext cx="107899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00">
                <a:solidFill>
                  <a:srgbClr val="A1B3C2"/>
                </a:solidFill>
                <a:latin typeface="Aptos"/>
              </a:defRPr>
            </a:pPr>
            <a:r>
              <a:t>WHY THIS STACK  /  Python keeps the solver approachable; sets make safety checks average O(1); Streamlit connects controls and trace with a small UI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772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0C6C7"/>
                </a:solidFill>
                <a:latin typeface="Aptos"/>
              </a:defRPr>
            </a:pPr>
            <a:r>
              <a:t>06  /  DEMO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1F6FA"/>
                </a:solidFill>
                <a:latin typeface="Aptos Display"/>
              </a:defRPr>
            </a:pPr>
            <a:r>
              <a:t>N=8: every solution, every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0" cy="16459"/>
          </a:xfrm>
          <a:prstGeom prst="rect">
            <a:avLst/>
          </a:prstGeom>
          <a:solidFill>
            <a:srgbClr val="1D3045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1B3C2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6" name="Picture 5" descr="nqueens_solution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36192"/>
            <a:ext cx="3794760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68112"/>
            <a:ext cx="36118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A1B3C2"/>
                </a:solidFill>
                <a:latin typeface="Aptos"/>
              </a:defRPr>
            </a:pPr>
            <a:r>
              <a:t>Sample valid board  ?  columns 1, 5, 8, 6, 3, 7, 2,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73736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901952"/>
            <a:ext cx="23774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30C6C7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450591"/>
            <a:ext cx="237744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A1B3C2"/>
                </a:solidFill>
                <a:latin typeface="Aptos"/>
              </a:defRPr>
            </a:pPr>
            <a:r>
              <a:t>SOLUTIONS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73736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1901952"/>
            <a:ext cx="23774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F2C14E"/>
                </a:solidFill>
                <a:latin typeface="Aptos"/>
              </a:defRPr>
            </a:pPr>
            <a:r>
              <a:t>15,720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450591"/>
            <a:ext cx="237744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A1B3C2"/>
                </a:solidFill>
                <a:latin typeface="Aptos"/>
              </a:defRPr>
            </a:pPr>
            <a:r>
              <a:t>CANDIDATE NODES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3291839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83480" y="3456432"/>
            <a:ext cx="23774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F05A52"/>
                </a:solidFill>
                <a:latin typeface="Aptos"/>
              </a:defRPr>
            </a:pPr>
            <a:r>
              <a:t>17,870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005072"/>
            <a:ext cx="237744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A1B3C2"/>
                </a:solidFill>
                <a:latin typeface="Aptos"/>
              </a:defRPr>
            </a:pPr>
            <a:r>
              <a:t>TRACE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291839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3456432"/>
            <a:ext cx="2377440" cy="47548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30C6C7"/>
                </a:solidFill>
                <a:latin typeface="Aptos"/>
              </a:defRPr>
            </a:pPr>
            <a:r>
              <a:t>~20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4005072"/>
            <a:ext cx="237744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A1B3C2"/>
                </a:solidFill>
                <a:latin typeface="Aptos"/>
              </a:defRPr>
            </a:pPr>
            <a:r>
              <a:t>SOLVER CORE*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5074920"/>
            <a:ext cx="589788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F1F6FA"/>
                </a:solidFill>
                <a:latin typeface="Aptos"/>
              </a:defRPr>
            </a:pPr>
            <a:r>
              <a:t>Practical benefit: learners can replay conflicts and backtracks, compare solution boards, and export evidence for review.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6080760"/>
            <a:ext cx="603504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A1B3C2"/>
                </a:solidFill>
                <a:latin typeface="Aptos"/>
              </a:defRPr>
            </a:pPr>
            <a:r>
              <a:t>*Single local solver-core run; illustrative, hardware-dependent, not a benchmark.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7724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30C6C7"/>
                </a:solidFill>
                <a:latin typeface="Aptos"/>
              </a:defRPr>
            </a:pPr>
            <a:r>
              <a:t>07  / 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03504"/>
            <a:ext cx="1078992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1F6FA"/>
                </a:solidFill>
                <a:latin typeface="Aptos Display"/>
              </a:defRPr>
            </a:pPr>
            <a:r>
              <a:t>A clear foundation for deeper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10972800" cy="16459"/>
          </a:xfrm>
          <a:prstGeom prst="rect">
            <a:avLst/>
          </a:prstGeom>
          <a:solidFill>
            <a:srgbClr val="1D3045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A1B3C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383280" cy="160020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64008" cy="1600200"/>
          </a:xfrm>
          <a:prstGeom prst="roundRect">
            <a:avLst>
              <a:gd name="adj" fmla="val 8000"/>
            </a:avLst>
          </a:prstGeom>
          <a:solidFill>
            <a:srgbClr val="30C6C7"/>
          </a:solidFill>
          <a:ln>
            <a:solidFill>
              <a:srgbClr val="30C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4650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30552"/>
            <a:ext cx="3017520" cy="9601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N=4?12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First / all solutions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Replayable trace + exports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600200"/>
            <a:ext cx="3383280" cy="160020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0520" y="1600200"/>
            <a:ext cx="64008" cy="1600200"/>
          </a:xfrm>
          <a:prstGeom prst="roundRect">
            <a:avLst>
              <a:gd name="adj" fmla="val 8000"/>
            </a:avLst>
          </a:prstGeom>
          <a:solidFill>
            <a:srgbClr val="F2C14E"/>
          </a:solidFill>
          <a:ln>
            <a:solidFill>
              <a:srgbClr val="F2C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746504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130552"/>
            <a:ext cx="3017520" cy="9601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Autoplay and speed control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Bit-mask solver option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Unit tests + CI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60020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162136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80960" y="1600200"/>
            <a:ext cx="64008" cy="1600200"/>
          </a:xfrm>
          <a:prstGeom prst="roundRect">
            <a:avLst>
              <a:gd name="adj" fmla="val 8000"/>
            </a:avLst>
          </a:prstGeom>
          <a:solidFill>
            <a:srgbClr val="F05A52"/>
          </a:solidFill>
          <a:ln>
            <a:solidFill>
              <a:srgbClr val="F05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8" y="1746504"/>
            <a:ext cx="3246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1F6FA"/>
                </a:solidFill>
                <a:latin typeface="Aptos"/>
              </a:defRPr>
            </a:pPr>
            <a:r>
              <a:t>LATER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2130552"/>
            <a:ext cx="3246120" cy="9601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Shareable runs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Optional persistence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A1B3C2"/>
                </a:solidFill>
                <a:latin typeface="Aptos"/>
              </a:defRPr>
            </a:pPr>
            <a:r>
              <a:t>Hosted classroom demos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794760"/>
            <a:ext cx="10607040" cy="18288"/>
          </a:xfrm>
          <a:prstGeom prst="rect">
            <a:avLst/>
          </a:prstGeom>
          <a:solidFill>
            <a:srgbClr val="1D3045"/>
          </a:solidFill>
          <a:ln>
            <a:solidFill>
              <a:srgbClr val="1D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251960"/>
            <a:ext cx="557784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2400" b="1">
                <a:solidFill>
                  <a:srgbClr val="F1F6FA"/>
                </a:solidFill>
                <a:latin typeface="Aptos Display"/>
              </a:defRPr>
            </a:pPr>
            <a:r>
              <a:t>Make the search visible.</a:t>
            </a:r>
          </a:p>
          <a:p>
            <a:pPr algn="l">
              <a:spcAft>
                <a:spcPts val="500"/>
              </a:spcAft>
              <a:defRPr sz="2400" b="1">
                <a:solidFill>
                  <a:srgbClr val="F1F6FA"/>
                </a:solidFill>
                <a:latin typeface="Aptos Display"/>
              </a:defRPr>
            </a:pPr>
            <a:r>
              <a:t>Make the algorithm understandable.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480560"/>
            <a:ext cx="384048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30C6C7"/>
                </a:solidFill>
                <a:latin typeface="Aptos"/>
              </a:defRPr>
            </a:pPr>
            <a:r>
              <a:t>THANK YOU</a:t>
            </a:r>
          </a:p>
          <a:p>
            <a:pPr algn="ctr">
              <a:spcAft>
                <a:spcPts val="500"/>
              </a:spcAft>
              <a:defRPr sz="2200" b="1">
                <a:solidFill>
                  <a:srgbClr val="30C6C7"/>
                </a:solidFill>
                <a:latin typeface="Aptos"/>
              </a:defRPr>
            </a:pPr>
            <a:r>
              <a:t>Questions &amp;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989320"/>
            <a:ext cx="105156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A1B3C2"/>
                </a:solidFill>
                <a:latin typeface="Aptos"/>
              </a:defRPr>
            </a:pPr>
            <a:r>
              <a:t>QUEEN-VISION  ?  N-Queens Backtracking Visualizer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13832"/>
            <a:ext cx="1042416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000">
                <a:solidFill>
                  <a:srgbClr val="A1B3C2"/>
                </a:solidFill>
                <a:latin typeface="Aptos"/>
              </a:defRPr>
            </a:pPr>
            <a:r>
              <a:t>SCALABILITY  /  The trace cap bounds visualization memory; larger boards would benefit from a more optimized solver.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